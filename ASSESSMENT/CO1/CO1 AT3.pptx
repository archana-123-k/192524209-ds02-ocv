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0" r:id="rId2"/>
    <p:sldId id="263" r:id="rId3"/>
    <p:sldId id="264" r:id="rId4"/>
    <p:sldId id="266" r:id="rId5"/>
    <p:sldId id="267" r:id="rId6"/>
    <p:sldId id="268" r:id="rId7"/>
    <p:sldId id="269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chana Kandula" userId="ab3f0c088748fcb9" providerId="LiveId" clId="{5BC569D1-02AC-4413-9D83-3A0FC6E262A7}"/>
    <pc:docChg chg="delSld modSld">
      <pc:chgData name="Archana Kandula" userId="ab3f0c088748fcb9" providerId="LiveId" clId="{5BC569D1-02AC-4413-9D83-3A0FC6E262A7}" dt="2026-07-20T06:01:00.241" v="29" actId="113"/>
      <pc:docMkLst>
        <pc:docMk/>
      </pc:docMkLst>
      <pc:sldChg chg="del">
        <pc:chgData name="Archana Kandula" userId="ab3f0c088748fcb9" providerId="LiveId" clId="{5BC569D1-02AC-4413-9D83-3A0FC6E262A7}" dt="2026-07-20T05:06:32.489" v="1" actId="47"/>
        <pc:sldMkLst>
          <pc:docMk/>
          <pc:sldMk cId="0" sldId="256"/>
        </pc:sldMkLst>
      </pc:sldChg>
      <pc:sldChg chg="del">
        <pc:chgData name="Archana Kandula" userId="ab3f0c088748fcb9" providerId="LiveId" clId="{5BC569D1-02AC-4413-9D83-3A0FC6E262A7}" dt="2026-07-20T05:06:33.084" v="2" actId="47"/>
        <pc:sldMkLst>
          <pc:docMk/>
          <pc:sldMk cId="0" sldId="257"/>
        </pc:sldMkLst>
      </pc:sldChg>
      <pc:sldChg chg="del">
        <pc:chgData name="Archana Kandula" userId="ab3f0c088748fcb9" providerId="LiveId" clId="{5BC569D1-02AC-4413-9D83-3A0FC6E262A7}" dt="2026-07-20T05:06:33.751" v="3" actId="47"/>
        <pc:sldMkLst>
          <pc:docMk/>
          <pc:sldMk cId="0" sldId="258"/>
        </pc:sldMkLst>
      </pc:sldChg>
      <pc:sldChg chg="del">
        <pc:chgData name="Archana Kandula" userId="ab3f0c088748fcb9" providerId="LiveId" clId="{5BC569D1-02AC-4413-9D83-3A0FC6E262A7}" dt="2026-07-20T05:06:34.316" v="4" actId="47"/>
        <pc:sldMkLst>
          <pc:docMk/>
          <pc:sldMk cId="0" sldId="259"/>
        </pc:sldMkLst>
      </pc:sldChg>
      <pc:sldChg chg="del">
        <pc:chgData name="Archana Kandula" userId="ab3f0c088748fcb9" providerId="LiveId" clId="{5BC569D1-02AC-4413-9D83-3A0FC6E262A7}" dt="2026-07-20T05:06:34.915" v="5" actId="47"/>
        <pc:sldMkLst>
          <pc:docMk/>
          <pc:sldMk cId="0" sldId="260"/>
        </pc:sldMkLst>
      </pc:sldChg>
      <pc:sldChg chg="del">
        <pc:chgData name="Archana Kandula" userId="ab3f0c088748fcb9" providerId="LiveId" clId="{5BC569D1-02AC-4413-9D83-3A0FC6E262A7}" dt="2026-07-20T05:06:35.505" v="6" actId="47"/>
        <pc:sldMkLst>
          <pc:docMk/>
          <pc:sldMk cId="0" sldId="261"/>
        </pc:sldMkLst>
      </pc:sldChg>
      <pc:sldChg chg="del">
        <pc:chgData name="Archana Kandula" userId="ab3f0c088748fcb9" providerId="LiveId" clId="{5BC569D1-02AC-4413-9D83-3A0FC6E262A7}" dt="2026-07-20T05:06:36.702" v="7" actId="47"/>
        <pc:sldMkLst>
          <pc:docMk/>
          <pc:sldMk cId="0" sldId="262"/>
        </pc:sldMkLst>
      </pc:sldChg>
      <pc:sldChg chg="modSp mod">
        <pc:chgData name="Archana Kandula" userId="ab3f0c088748fcb9" providerId="LiveId" clId="{5BC569D1-02AC-4413-9D83-3A0FC6E262A7}" dt="2026-07-20T06:01:00.241" v="29" actId="113"/>
        <pc:sldMkLst>
          <pc:docMk/>
          <pc:sldMk cId="0" sldId="263"/>
        </pc:sldMkLst>
        <pc:spChg chg="mod">
          <ac:chgData name="Archana Kandula" userId="ab3f0c088748fcb9" providerId="LiveId" clId="{5BC569D1-02AC-4413-9D83-3A0FC6E262A7}" dt="2026-07-20T06:01:00.241" v="29" actId="113"/>
          <ac:spMkLst>
            <pc:docMk/>
            <pc:sldMk cId="0" sldId="263"/>
            <ac:spMk id="2" creationId="{00000000-0000-0000-0000-000000000000}"/>
          </ac:spMkLst>
        </pc:spChg>
      </pc:sldChg>
      <pc:sldChg chg="del">
        <pc:chgData name="Archana Kandula" userId="ab3f0c088748fcb9" providerId="LiveId" clId="{5BC569D1-02AC-4413-9D83-3A0FC6E262A7}" dt="2026-07-20T05:06:24.372" v="0" actId="47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50B42-5030-C74F-8A78-D063382E2D1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D9C1F-5067-0447-98F1-58A6D6F0B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5C849D-5DCD-BA46-DECD-9CE29C1ADBB9}"/>
              </a:ext>
            </a:extLst>
          </p:cNvPr>
          <p:cNvSpPr txBox="1"/>
          <p:nvPr/>
        </p:nvSpPr>
        <p:spPr>
          <a:xfrm>
            <a:off x="2101756" y="2444575"/>
            <a:ext cx="7533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DSA0204 Computer Vision With OpenCV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DF97B6-0D6D-BB06-B034-E33A8F6ACB1B}"/>
              </a:ext>
            </a:extLst>
          </p:cNvPr>
          <p:cNvSpPr txBox="1"/>
          <p:nvPr/>
        </p:nvSpPr>
        <p:spPr>
          <a:xfrm>
            <a:off x="1517176" y="1270869"/>
            <a:ext cx="9157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CO1- Assessment Tool3 - Technical Presentation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431C75-E504-94B2-5ADE-BEACE931329F}"/>
              </a:ext>
            </a:extLst>
          </p:cNvPr>
          <p:cNvSpPr txBox="1"/>
          <p:nvPr/>
        </p:nvSpPr>
        <p:spPr>
          <a:xfrm>
            <a:off x="736978" y="5006905"/>
            <a:ext cx="371219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Archana (192524209)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E684A-952D-5925-4227-576380C026F7}"/>
              </a:ext>
            </a:extLst>
          </p:cNvPr>
          <p:cNvSpPr txBox="1"/>
          <p:nvPr/>
        </p:nvSpPr>
        <p:spPr>
          <a:xfrm>
            <a:off x="7929349" y="4988707"/>
            <a:ext cx="30570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G. A. Senthil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CD81950A-0F33-E477-E820-0D093F6210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19084" cy="1086510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A57A669B-7D7C-3BA0-4418-7B3E98B8BE9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4824" y="10390"/>
            <a:ext cx="1538190" cy="10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02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/home/claude/cv_ppt/icon_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1051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&amp; Drift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14400" y="2551176"/>
            <a:ext cx="64008" cy="640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414016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Domain shift across sites, lighting, seasons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14400" y="2953512"/>
            <a:ext cx="64008" cy="640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281635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Labeling cost grows with edge-case diversity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14400" y="3355848"/>
            <a:ext cx="64008" cy="640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3218688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Continual learning without catastrophic forgetting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172200" y="1554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0" y="1783080"/>
            <a:ext cx="548640" cy="548640"/>
          </a:xfrm>
          <a:prstGeom prst="ellipse">
            <a:avLst/>
          </a:prstGeom>
          <a:solidFill>
            <a:srgbClr val="19376D"/>
          </a:solidFill>
          <a:ln/>
        </p:spPr>
      </p:sp>
      <p:pic>
        <p:nvPicPr>
          <p:cNvPr id="16" name="Image 1" descr="/home/claude/cv_ppt/icon_serv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446" y="1925726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86600" y="181051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Infrastructure &amp; Cost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446520" y="2551176"/>
            <a:ext cx="64008" cy="64008"/>
          </a:xfrm>
          <a:prstGeom prst="ellipse">
            <a:avLst/>
          </a:prstGeom>
          <a:solidFill>
            <a:srgbClr val="19376D"/>
          </a:solidFill>
          <a:ln/>
        </p:spPr>
      </p:sp>
      <p:sp>
        <p:nvSpPr>
          <p:cNvPr id="19" name="Text 15"/>
          <p:cNvSpPr/>
          <p:nvPr/>
        </p:nvSpPr>
        <p:spPr>
          <a:xfrm>
            <a:off x="6629400" y="2414016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Inference cost multiplies across thousands of nodes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6446520" y="2953512"/>
            <a:ext cx="64008" cy="64008"/>
          </a:xfrm>
          <a:prstGeom prst="ellipse">
            <a:avLst/>
          </a:prstGeom>
          <a:solidFill>
            <a:srgbClr val="19376D"/>
          </a:solidFill>
          <a:ln/>
        </p:spPr>
      </p:sp>
      <p:sp>
        <p:nvSpPr>
          <p:cNvPr id="21" name="Text 17"/>
          <p:cNvSpPr/>
          <p:nvPr/>
        </p:nvSpPr>
        <p:spPr>
          <a:xfrm>
            <a:off x="6629400" y="281635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Bandwidth limits push compute to the edge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6446520" y="3355848"/>
            <a:ext cx="64008" cy="64008"/>
          </a:xfrm>
          <a:prstGeom prst="ellipse">
            <a:avLst/>
          </a:prstGeom>
          <a:solidFill>
            <a:srgbClr val="19376D"/>
          </a:solidFill>
          <a:ln/>
        </p:spPr>
      </p:sp>
      <p:sp>
        <p:nvSpPr>
          <p:cNvPr id="23" name="Text 19"/>
          <p:cNvSpPr/>
          <p:nvPr/>
        </p:nvSpPr>
        <p:spPr>
          <a:xfrm>
            <a:off x="6629400" y="3218688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versioning across heterogeneous hardware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640080" y="3886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68680" y="4114800"/>
            <a:ext cx="548640" cy="548640"/>
          </a:xfrm>
          <a:prstGeom prst="ellipse">
            <a:avLst/>
          </a:prstGeom>
          <a:solidFill>
            <a:srgbClr val="FF7A00"/>
          </a:solidFill>
          <a:ln/>
        </p:spPr>
      </p:sp>
      <p:pic>
        <p:nvPicPr>
          <p:cNvPr id="26" name="Image 2" descr="/home/claude/cv_ppt/icon_shiel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" y="4257446"/>
            <a:ext cx="263347" cy="26334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54480" y="41422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Governance &amp; Ethics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914400" y="4882896"/>
            <a:ext cx="64008" cy="64008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29" name="Text 24"/>
          <p:cNvSpPr/>
          <p:nvPr/>
        </p:nvSpPr>
        <p:spPr>
          <a:xfrm>
            <a:off x="1097280" y="4745736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Bias amplification across demographics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914400" y="5285232"/>
            <a:ext cx="64008" cy="64008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31" name="Text 26"/>
          <p:cNvSpPr/>
          <p:nvPr/>
        </p:nvSpPr>
        <p:spPr>
          <a:xfrm>
            <a:off x="1097280" y="514807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Privacy regulation (GDPR, biometric law)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914400" y="5687568"/>
            <a:ext cx="64008" cy="64008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33" name="Text 28"/>
          <p:cNvSpPr/>
          <p:nvPr/>
        </p:nvSpPr>
        <p:spPr>
          <a:xfrm>
            <a:off x="1097280" y="5550408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Auditability of black-box decisions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29"/>
          <p:cNvSpPr/>
          <p:nvPr/>
        </p:nvSpPr>
        <p:spPr>
          <a:xfrm>
            <a:off x="6172200" y="3886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400800" y="4114800"/>
            <a:ext cx="548640" cy="548640"/>
          </a:xfrm>
          <a:prstGeom prst="ellipse">
            <a:avLst/>
          </a:prstGeom>
          <a:solidFill>
            <a:srgbClr val="5C6B82"/>
          </a:solidFill>
          <a:ln/>
        </p:spPr>
      </p:sp>
      <p:pic>
        <p:nvPicPr>
          <p:cNvPr id="36" name="Image 3" descr="/home/claude/cv_ppt/icon_cpu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446" y="4257446"/>
            <a:ext cx="263347" cy="263347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086600" y="41422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Reliability &amp; Ops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2"/>
          <p:cNvSpPr/>
          <p:nvPr/>
        </p:nvSpPr>
        <p:spPr>
          <a:xfrm>
            <a:off x="6446520" y="4882896"/>
            <a:ext cx="64008" cy="64008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39" name="Text 33"/>
          <p:cNvSpPr/>
          <p:nvPr/>
        </p:nvSpPr>
        <p:spPr>
          <a:xfrm>
            <a:off x="6629400" y="4745736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Silent model degradation in production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4"/>
          <p:cNvSpPr/>
          <p:nvPr/>
        </p:nvSpPr>
        <p:spPr>
          <a:xfrm>
            <a:off x="6446520" y="5285232"/>
            <a:ext cx="64008" cy="64008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41" name="Text 35"/>
          <p:cNvSpPr/>
          <p:nvPr/>
        </p:nvSpPr>
        <p:spPr>
          <a:xfrm>
            <a:off x="6629400" y="514807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Latency SLAs under real-time constraints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6"/>
          <p:cNvSpPr/>
          <p:nvPr/>
        </p:nvSpPr>
        <p:spPr>
          <a:xfrm>
            <a:off x="6446520" y="5687568"/>
            <a:ext cx="64008" cy="64008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43" name="Text 37"/>
          <p:cNvSpPr/>
          <p:nvPr/>
        </p:nvSpPr>
        <p:spPr>
          <a:xfrm>
            <a:off x="6629400" y="5550408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Monitoring at a scale humans can't manually review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object 4">
            <a:extLst>
              <a:ext uri="{FF2B5EF4-FFF2-40B4-BE49-F238E27FC236}">
                <a16:creationId xmlns:a16="http://schemas.microsoft.com/office/drawing/2014/main" id="{135F93AA-FB94-B3DA-7C4E-F03C4FC06A70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72843" y="10390"/>
            <a:ext cx="1538190" cy="1096900"/>
          </a:xfrm>
          <a:prstGeom prst="rect">
            <a:avLst/>
          </a:prstGeom>
        </p:spPr>
      </p:pic>
      <p:pic>
        <p:nvPicPr>
          <p:cNvPr id="47" name="object 3">
            <a:extLst>
              <a:ext uri="{FF2B5EF4-FFF2-40B4-BE49-F238E27FC236}">
                <a16:creationId xmlns:a16="http://schemas.microsoft.com/office/drawing/2014/main" id="{EEE360BD-C07D-3ADB-EC46-6DB9EFF7026E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519084" cy="10865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From Root Cause to Mitigation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77992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0136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Root Cause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 data reflects one geography's conditions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954780" y="219456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8" name="Image 0" descr="/home/claude/cv_ppt/icon_arrow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878" y="2289658"/>
            <a:ext cx="175565" cy="17556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89120" y="169164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0" y="180136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Effect at Scale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0" y="21031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Accuracy drops 15-30% at new deployment sites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703820" y="219456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3" name="Image 1" descr="/home/claude/cv_ppt/icon_arrow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918" y="2289658"/>
            <a:ext cx="175565" cy="17556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138160" y="169164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00B4D8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321040" y="180136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Mitigation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321040" y="21031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Active-learning loop with local re-calibration 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40080" y="356616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22960" y="367588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Root Cause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22960" y="39776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Central-cloud inference doesn't scale with camera count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3954780" y="4069080"/>
            <a:ext cx="365760" cy="365760"/>
          </a:xfrm>
          <a:prstGeom prst="ellipse">
            <a:avLst/>
          </a:prstGeom>
          <a:solidFill>
            <a:srgbClr val="FF7A00"/>
          </a:solidFill>
          <a:ln/>
        </p:spPr>
      </p:sp>
      <p:pic>
        <p:nvPicPr>
          <p:cNvPr id="21" name="Image 2" descr="/home/claude/cv_ppt/icon_arrow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878" y="4164178"/>
            <a:ext cx="175565" cy="17556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389120" y="356616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4572000" y="367588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Effect at Scale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4572000" y="39776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Latency and bandwidth costs grow super-linearly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7703820" y="4069080"/>
            <a:ext cx="365760" cy="365760"/>
          </a:xfrm>
          <a:prstGeom prst="ellipse">
            <a:avLst/>
          </a:prstGeom>
          <a:solidFill>
            <a:srgbClr val="FF7A00"/>
          </a:solidFill>
          <a:ln/>
        </p:spPr>
      </p:sp>
      <p:pic>
        <p:nvPicPr>
          <p:cNvPr id="26" name="Image 3" descr="/home/claude/cv_ppt/icon_arrow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918" y="4164178"/>
            <a:ext cx="175565" cy="175565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138160" y="356616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7A00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8321040" y="367588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Mitigation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8321040" y="39776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Edge inference with periodic model sync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object 4">
            <a:extLst>
              <a:ext uri="{FF2B5EF4-FFF2-40B4-BE49-F238E27FC236}">
                <a16:creationId xmlns:a16="http://schemas.microsoft.com/office/drawing/2014/main" id="{CFA9F5BA-ADD0-F48E-D03F-41FE88D3788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72843" y="24038"/>
            <a:ext cx="1538190" cy="1096900"/>
          </a:xfrm>
          <a:prstGeom prst="rect">
            <a:avLst/>
          </a:prstGeom>
        </p:spPr>
      </p:pic>
      <p:pic>
        <p:nvPicPr>
          <p:cNvPr id="33" name="object 3">
            <a:extLst>
              <a:ext uri="{FF2B5EF4-FFF2-40B4-BE49-F238E27FC236}">
                <a16:creationId xmlns:a16="http://schemas.microsoft.com/office/drawing/2014/main" id="{6FDEC5A9-F0E9-0B19-8DD4-01B98F1DA11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519084" cy="10865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E4E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9692640" y="2697480"/>
            <a:ext cx="1554480" cy="15544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4" name="Image 0" descr="/home/claude/cv_ppt/icon_cpu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805" y="3101645"/>
            <a:ext cx="746150" cy="746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56560" y="2697480"/>
            <a:ext cx="585216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Holistic Evaluation of a</a:t>
            </a:r>
            <a:endParaRPr lang="en-US" sz="34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 System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weaknesses, and a path to improvement</a:t>
            </a:r>
            <a:endParaRPr lang="en-US" sz="2000" dirty="0"/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5467C45C-5967-D8EC-48C2-9023910AA45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72843" y="10390"/>
            <a:ext cx="1538190" cy="1096900"/>
          </a:xfrm>
          <a:prstGeom prst="rect">
            <a:avLst/>
          </a:prstGeom>
        </p:spPr>
      </p:pic>
      <p:pic>
        <p:nvPicPr>
          <p:cNvPr id="10" name="object 3">
            <a:extLst>
              <a:ext uri="{FF2B5EF4-FFF2-40B4-BE49-F238E27FC236}">
                <a16:creationId xmlns:a16="http://schemas.microsoft.com/office/drawing/2014/main" id="{7800AB7C-41F8-3B52-9BB8-D0E5A944ABC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3648"/>
            <a:ext cx="1519084" cy="10865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System Evaluation at a Glance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/home/claude/cv_ppt/icon_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1051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Strengths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14400" y="2551176"/>
            <a:ext cx="64008" cy="640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414016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99.1% precision on known defect classes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14400" y="2953512"/>
            <a:ext cx="64008" cy="640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281635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45ms average inference latency on edge GPU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14400" y="3355848"/>
            <a:ext cx="64008" cy="640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3218688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Modular pipeline eases retraining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172200" y="1554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0" y="1783080"/>
            <a:ext cx="548640" cy="548640"/>
          </a:xfrm>
          <a:prstGeom prst="ellipse">
            <a:avLst/>
          </a:prstGeom>
          <a:solidFill>
            <a:srgbClr val="FF7A00"/>
          </a:solidFill>
          <a:ln/>
        </p:spPr>
      </p:sp>
      <p:pic>
        <p:nvPicPr>
          <p:cNvPr id="16" name="Image 1" descr="/home/claude/cv_ppt/icon_x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446" y="1925726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86600" y="181051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Weaknesses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446520" y="2551176"/>
            <a:ext cx="64008" cy="64008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19" name="Text 15"/>
          <p:cNvSpPr/>
          <p:nvPr/>
        </p:nvSpPr>
        <p:spPr>
          <a:xfrm>
            <a:off x="6629400" y="2414016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Recall drops on rare, unseen defect types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6446520" y="2953512"/>
            <a:ext cx="64008" cy="64008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21" name="Text 17"/>
          <p:cNvSpPr/>
          <p:nvPr/>
        </p:nvSpPr>
        <p:spPr>
          <a:xfrm>
            <a:off x="6629400" y="281635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Sensitive to lighting variation on the 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6446520" y="3355848"/>
            <a:ext cx="64008" cy="64008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23" name="Text 19"/>
          <p:cNvSpPr/>
          <p:nvPr/>
        </p:nvSpPr>
        <p:spPr>
          <a:xfrm>
            <a:off x="6629400" y="3218688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Limited explainability for QA disputes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640080" y="3886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68680" y="4114800"/>
            <a:ext cx="548640" cy="548640"/>
          </a:xfrm>
          <a:prstGeom prst="ellipse">
            <a:avLst/>
          </a:prstGeom>
          <a:solidFill>
            <a:srgbClr val="19376D"/>
          </a:solidFill>
          <a:ln/>
        </p:spPr>
      </p:sp>
      <p:pic>
        <p:nvPicPr>
          <p:cNvPr id="26" name="Image 2" descr="/home/claude/cv_ppt/icon_trend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" y="4257446"/>
            <a:ext cx="263347" cy="26334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54480" y="41422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Opportunities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914400" y="4882896"/>
            <a:ext cx="64008" cy="64008"/>
          </a:xfrm>
          <a:prstGeom prst="ellipse">
            <a:avLst/>
          </a:prstGeom>
          <a:solidFill>
            <a:srgbClr val="19376D"/>
          </a:solidFill>
          <a:ln/>
        </p:spPr>
      </p:sp>
      <p:sp>
        <p:nvSpPr>
          <p:cNvPr id="29" name="Text 24"/>
          <p:cNvSpPr/>
          <p:nvPr/>
        </p:nvSpPr>
        <p:spPr>
          <a:xfrm>
            <a:off x="1097280" y="4745736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Active learning to close the rare-class gap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914400" y="5285232"/>
            <a:ext cx="64008" cy="64008"/>
          </a:xfrm>
          <a:prstGeom prst="ellipse">
            <a:avLst/>
          </a:prstGeom>
          <a:solidFill>
            <a:srgbClr val="19376D"/>
          </a:solidFill>
          <a:ln/>
        </p:spPr>
      </p:sp>
      <p:sp>
        <p:nvSpPr>
          <p:cNvPr id="31" name="Text 26"/>
          <p:cNvSpPr/>
          <p:nvPr/>
        </p:nvSpPr>
        <p:spPr>
          <a:xfrm>
            <a:off x="1097280" y="514807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Multi-sensor fusion (RGB + depth) planned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914400" y="5687568"/>
            <a:ext cx="64008" cy="64008"/>
          </a:xfrm>
          <a:prstGeom prst="ellipse">
            <a:avLst/>
          </a:prstGeom>
          <a:solidFill>
            <a:srgbClr val="19376D"/>
          </a:solidFill>
          <a:ln/>
        </p:spPr>
      </p:sp>
      <p:sp>
        <p:nvSpPr>
          <p:cNvPr id="33" name="Text 28"/>
          <p:cNvSpPr/>
          <p:nvPr/>
        </p:nvSpPr>
        <p:spPr>
          <a:xfrm>
            <a:off x="1097280" y="5550408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Federated updates across plant sites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29"/>
          <p:cNvSpPr/>
          <p:nvPr/>
        </p:nvSpPr>
        <p:spPr>
          <a:xfrm>
            <a:off x="6172200" y="3886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400800" y="4114800"/>
            <a:ext cx="548640" cy="548640"/>
          </a:xfrm>
          <a:prstGeom prst="ellipse">
            <a:avLst/>
          </a:prstGeom>
          <a:solidFill>
            <a:srgbClr val="5C6B82"/>
          </a:solidFill>
          <a:ln/>
        </p:spPr>
      </p:sp>
      <p:pic>
        <p:nvPicPr>
          <p:cNvPr id="36" name="Image 3" descr="/home/claude/cv_ppt/icon_ale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446" y="4257446"/>
            <a:ext cx="263347" cy="263347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086600" y="41422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Threats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2"/>
          <p:cNvSpPr/>
          <p:nvPr/>
        </p:nvSpPr>
        <p:spPr>
          <a:xfrm>
            <a:off x="6446520" y="4882896"/>
            <a:ext cx="64008" cy="64008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39" name="Text 33"/>
          <p:cNvSpPr/>
          <p:nvPr/>
        </p:nvSpPr>
        <p:spPr>
          <a:xfrm>
            <a:off x="6629400" y="4745736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New product lines shift the data distribution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4"/>
          <p:cNvSpPr/>
          <p:nvPr/>
        </p:nvSpPr>
        <p:spPr>
          <a:xfrm>
            <a:off x="6446520" y="5285232"/>
            <a:ext cx="64008" cy="64008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41" name="Text 35"/>
          <p:cNvSpPr/>
          <p:nvPr/>
        </p:nvSpPr>
        <p:spPr>
          <a:xfrm>
            <a:off x="6629400" y="514807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Compliance requirements may add audit overhead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6"/>
          <p:cNvSpPr/>
          <p:nvPr/>
        </p:nvSpPr>
        <p:spPr>
          <a:xfrm>
            <a:off x="6446520" y="5687568"/>
            <a:ext cx="64008" cy="64008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43" name="Text 37"/>
          <p:cNvSpPr/>
          <p:nvPr/>
        </p:nvSpPr>
        <p:spPr>
          <a:xfrm>
            <a:off x="6629400" y="5550408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Competing vendors closing the accuracy gap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object 4">
            <a:extLst>
              <a:ext uri="{FF2B5EF4-FFF2-40B4-BE49-F238E27FC236}">
                <a16:creationId xmlns:a16="http://schemas.microsoft.com/office/drawing/2014/main" id="{AEBA9C54-AE87-E6EC-BFE2-162B3A5EF25E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72843" y="24038"/>
            <a:ext cx="1538190" cy="1096900"/>
          </a:xfrm>
          <a:prstGeom prst="rect">
            <a:avLst/>
          </a:prstGeom>
        </p:spPr>
      </p:pic>
      <p:pic>
        <p:nvPicPr>
          <p:cNvPr id="47" name="object 3">
            <a:extLst>
              <a:ext uri="{FF2B5EF4-FFF2-40B4-BE49-F238E27FC236}">
                <a16:creationId xmlns:a16="http://schemas.microsoft.com/office/drawing/2014/main" id="{8420E5D8-44C1-A2F0-8A03-7953DA85926D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519084" cy="10865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Improvement Roadmap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4F7FB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1600200"/>
            <a:ext cx="640080" cy="640080"/>
          </a:xfrm>
          <a:prstGeom prst="ellipse">
            <a:avLst/>
          </a:prstGeom>
          <a:solidFill>
            <a:srgbClr val="00B4D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73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Expand Edge-Case Data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3200399"/>
            <a:ext cx="2496312" cy="6857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Targeted collection + active learning for rare defect classes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36392" y="3419856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0" name="Image 0" descr="/home/claude/cv_ppt/icon_arrow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470" y="3495934"/>
            <a:ext cx="140452" cy="14045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410712" y="19202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4F7FB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7972" y="1600200"/>
            <a:ext cx="640080" cy="640080"/>
          </a:xfrm>
          <a:prstGeom prst="ellipse">
            <a:avLst/>
          </a:prstGeom>
          <a:solidFill>
            <a:srgbClr val="19376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797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593592" y="25146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 Explainability Layer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630168" y="3248167"/>
            <a:ext cx="2148840" cy="866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Saliency maps surfaced to QA reviewers for disputed calls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907024" y="3419856"/>
            <a:ext cx="292608" cy="292608"/>
          </a:xfrm>
          <a:prstGeom prst="ellipse">
            <a:avLst/>
          </a:prstGeom>
          <a:solidFill>
            <a:srgbClr val="19376D"/>
          </a:solidFill>
          <a:ln/>
        </p:spPr>
      </p:sp>
      <p:pic>
        <p:nvPicPr>
          <p:cNvPr id="17" name="Image 1" descr="/home/claude/cv_ppt/icon_arrow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102" y="3495934"/>
            <a:ext cx="140452" cy="14045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181344" y="19202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4F7FB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18604" y="1600200"/>
            <a:ext cx="640080" cy="640080"/>
          </a:xfrm>
          <a:prstGeom prst="ellipse">
            <a:avLst/>
          </a:prstGeom>
          <a:solidFill>
            <a:srgbClr val="FF7A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11860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199632" y="24231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Sensor Fusion Pilot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364224" y="32004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RGB + depth fusion trial on one production 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8677656" y="3419856"/>
            <a:ext cx="292608" cy="292608"/>
          </a:xfrm>
          <a:prstGeom prst="ellipse">
            <a:avLst/>
          </a:prstGeom>
          <a:solidFill>
            <a:srgbClr val="FF7A00"/>
          </a:solidFill>
          <a:ln/>
        </p:spPr>
      </p:sp>
      <p:pic>
        <p:nvPicPr>
          <p:cNvPr id="24" name="Image 2" descr="/home/claude/cv_ppt/icon_arrow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3734" y="3495934"/>
            <a:ext cx="140452" cy="14045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951976" y="19202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4F7FB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889236" y="1600200"/>
            <a:ext cx="640080" cy="640080"/>
          </a:xfrm>
          <a:prstGeom prst="ellipse">
            <a:avLst/>
          </a:prstGeom>
          <a:solidFill>
            <a:srgbClr val="0B244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88923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8970264" y="2423160"/>
            <a:ext cx="23134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Federated Rollout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9134856" y="32004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Cross-site model updates without centralizing raw 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object 4">
            <a:extLst>
              <a:ext uri="{FF2B5EF4-FFF2-40B4-BE49-F238E27FC236}">
                <a16:creationId xmlns:a16="http://schemas.microsoft.com/office/drawing/2014/main" id="{539BFDCD-542B-609C-89C9-A2419E15067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72843" y="10390"/>
            <a:ext cx="1538190" cy="1096900"/>
          </a:xfrm>
          <a:prstGeom prst="rect">
            <a:avLst/>
          </a:prstGeom>
        </p:spPr>
      </p:pic>
      <p:pic>
        <p:nvPicPr>
          <p:cNvPr id="33" name="object 3">
            <a:extLst>
              <a:ext uri="{FF2B5EF4-FFF2-40B4-BE49-F238E27FC236}">
                <a16:creationId xmlns:a16="http://schemas.microsoft.com/office/drawing/2014/main" id="{0964144E-B4ED-6ECD-8857-267DB4D4A3D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519084" cy="1086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244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Key Takeaways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96596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/home/claude/cv_ppt/icon_camera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1" y="21323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82880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32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Sensor choice is a system-level trade-off between dynamic range, speed, power, and cost — not a single winner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40080" y="315468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347472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9" name="Image 1" descr="/home/claude/cv_ppt/icon_glob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1" y="36411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20240" y="333756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32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Deployment challenges compound across data, infrastructure, governance, and reliability — treat them as one system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40080" y="46634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/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60120" y="498348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3" name="Image 2" descr="/home/claude/cv_ppt/icon_cpu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1" y="514990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20240" y="484632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323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Continuous, structured evaluation — not a one-time benchmark — is what keeps a vision system trustworthy at scale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object 4">
            <a:extLst>
              <a:ext uri="{FF2B5EF4-FFF2-40B4-BE49-F238E27FC236}">
                <a16:creationId xmlns:a16="http://schemas.microsoft.com/office/drawing/2014/main" id="{D3CD4E18-15A0-FF02-F958-D7F1B9E0B40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72843" y="10390"/>
            <a:ext cx="1538190" cy="1096900"/>
          </a:xfrm>
          <a:prstGeom prst="rect">
            <a:avLst/>
          </a:prstGeom>
        </p:spPr>
      </p:pic>
      <p:pic>
        <p:nvPicPr>
          <p:cNvPr id="18" name="object 3">
            <a:extLst>
              <a:ext uri="{FF2B5EF4-FFF2-40B4-BE49-F238E27FC236}">
                <a16:creationId xmlns:a16="http://schemas.microsoft.com/office/drawing/2014/main" id="{5813D0BE-159A-C805-CEA6-1D8EED8673A5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519084" cy="10865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391</Words>
  <Application>Microsoft Office PowerPoint</Application>
  <PresentationFormat>Widescreen</PresentationFormat>
  <Paragraphs>80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Archana Kandula</cp:lastModifiedBy>
  <cp:revision>3</cp:revision>
  <dcterms:created xsi:type="dcterms:W3CDTF">2026-07-14T08:04:17Z</dcterms:created>
  <dcterms:modified xsi:type="dcterms:W3CDTF">2026-07-20T06:01:03Z</dcterms:modified>
</cp:coreProperties>
</file>