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56" r:id="rId3"/>
    <p:sldId id="257" r:id="rId4"/>
    <p:sldId id="258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chana Kandula" userId="ab3f0c088748fcb9" providerId="LiveId" clId="{5BC569D1-02AC-4413-9D83-3A0FC6E262A7}"/>
    <pc:docChg chg="modSld">
      <pc:chgData name="Archana Kandula" userId="ab3f0c088748fcb9" providerId="LiveId" clId="{5BC569D1-02AC-4413-9D83-3A0FC6E262A7}" dt="2026-07-20T05:58:08.290" v="1" actId="22"/>
      <pc:docMkLst>
        <pc:docMk/>
      </pc:docMkLst>
      <pc:sldChg chg="addSp mod">
        <pc:chgData name="Archana Kandula" userId="ab3f0c088748fcb9" providerId="LiveId" clId="{5BC569D1-02AC-4413-9D83-3A0FC6E262A7}" dt="2026-07-20T05:58:08.290" v="1" actId="22"/>
        <pc:sldMkLst>
          <pc:docMk/>
          <pc:sldMk cId="2081919246" sldId="259"/>
        </pc:sldMkLst>
        <pc:picChg chg="add">
          <ac:chgData name="Archana Kandula" userId="ab3f0c088748fcb9" providerId="LiveId" clId="{5BC569D1-02AC-4413-9D83-3A0FC6E262A7}" dt="2026-07-20T05:57:56.871" v="0" actId="22"/>
          <ac:picMkLst>
            <pc:docMk/>
            <pc:sldMk cId="2081919246" sldId="259"/>
            <ac:picMk id="3" creationId="{AD96A22B-782D-76CD-B5A1-09F08A13064F}"/>
          </ac:picMkLst>
        </pc:picChg>
        <pc:picChg chg="add">
          <ac:chgData name="Archana Kandula" userId="ab3f0c088748fcb9" providerId="LiveId" clId="{5BC569D1-02AC-4413-9D83-3A0FC6E262A7}" dt="2026-07-20T05:58:08.290" v="1" actId="22"/>
          <ac:picMkLst>
            <pc:docMk/>
            <pc:sldMk cId="2081919246" sldId="259"/>
            <ac:picMk id="9" creationId="{4A0C1898-804F-69AA-1DB2-316FE41129A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D3B9F6-0ECD-0A48-8C34-32816367E3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BEF41D-3E6C-B54D-AA5E-560D747F5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26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75BB7B-BE73-17BA-1F36-41E234705F76}"/>
              </a:ext>
            </a:extLst>
          </p:cNvPr>
          <p:cNvSpPr txBox="1"/>
          <p:nvPr/>
        </p:nvSpPr>
        <p:spPr>
          <a:xfrm>
            <a:off x="2606722" y="409434"/>
            <a:ext cx="61414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ASSESSMENT TOOL C01</a:t>
            </a:r>
            <a:endParaRPr lang="en-IN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55A65A-EAC1-7AE8-D378-DC03A5FF125D}"/>
              </a:ext>
            </a:extLst>
          </p:cNvPr>
          <p:cNvSpPr txBox="1"/>
          <p:nvPr/>
        </p:nvSpPr>
        <p:spPr>
          <a:xfrm>
            <a:off x="3220870" y="1301424"/>
            <a:ext cx="5527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CONCEPT MAPPING</a:t>
            </a:r>
            <a:endParaRPr lang="en-IN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277D71-D761-CA82-C2E2-1612FC301C5F}"/>
              </a:ext>
            </a:extLst>
          </p:cNvPr>
          <p:cNvSpPr txBox="1"/>
          <p:nvPr/>
        </p:nvSpPr>
        <p:spPr>
          <a:xfrm>
            <a:off x="568656" y="4878906"/>
            <a:ext cx="41853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Name: K. Archana                       </a:t>
            </a:r>
          </a:p>
          <a:p>
            <a:r>
              <a:rPr lang="en-IN" sz="3200" b="1" dirty="0"/>
              <a:t> Reg No: 192524209  </a:t>
            </a:r>
            <a:endParaRPr lang="en-IN" sz="3200" dirty="0"/>
          </a:p>
          <a:p>
            <a:endParaRPr lang="en-IN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193934-B45F-6E0F-E9CE-0DFE7830E335}"/>
              </a:ext>
            </a:extLst>
          </p:cNvPr>
          <p:cNvSpPr txBox="1"/>
          <p:nvPr/>
        </p:nvSpPr>
        <p:spPr>
          <a:xfrm>
            <a:off x="2129050" y="2305615"/>
            <a:ext cx="70968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Course : Computer Vision</a:t>
            </a:r>
          </a:p>
          <a:p>
            <a:pPr algn="ctr"/>
            <a:r>
              <a:rPr lang="en-IN" sz="2800" b="1" dirty="0"/>
              <a:t>Code: DSA0204</a:t>
            </a:r>
            <a:endParaRPr lang="en-IN" sz="2800" dirty="0"/>
          </a:p>
          <a:p>
            <a:pPr algn="ctr"/>
            <a:endParaRPr lang="en-IN" sz="280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D96A22B-782D-76CD-B5A1-09F08A1306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519084" cy="1086510"/>
          </a:xfrm>
          <a:prstGeom prst="rect">
            <a:avLst/>
          </a:prstGeom>
        </p:spPr>
      </p:pic>
      <p:pic>
        <p:nvPicPr>
          <p:cNvPr id="9" name="object 4">
            <a:extLst>
              <a:ext uri="{FF2B5EF4-FFF2-40B4-BE49-F238E27FC236}">
                <a16:creationId xmlns:a16="http://schemas.microsoft.com/office/drawing/2014/main" id="{4A0C1898-804F-69AA-1DB2-316FE41129A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4824" y="10390"/>
            <a:ext cx="1538190" cy="10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919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From Real-World Scene to Digital Image Representation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29888" y="1234440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84752" y="1234440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Real-World Scene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(objects, radiance)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5848" y="1801368"/>
            <a:ext cx="914" cy="2743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129888" y="2075688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84752" y="2075688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Optical Image Formation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(lens / pinhole model)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5848" y="2642616"/>
            <a:ext cx="914" cy="2743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29888" y="2916936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84752" y="2916936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Image Sensor Array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(CCD / CMOS)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95848" y="3483864"/>
            <a:ext cx="914" cy="2743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29888" y="3758184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84752" y="3758184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Spatial Sampling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(pixel grid)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5848" y="4325112"/>
            <a:ext cx="914" cy="2743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129888" y="4599432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84752" y="4599432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Intensity Quantization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(grey / bit-depth levels)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95848" y="5166360"/>
            <a:ext cx="914" cy="2743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29888" y="5440680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84752" y="5440680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Digital Image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(2-D pixel matrix f(x,y))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11480" y="1216152"/>
            <a:ext cx="2514600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6344" y="1216152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Illumination Source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(intensity, direction)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926080" y="1499616"/>
            <a:ext cx="1203808" cy="18288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11480" y="2093976"/>
            <a:ext cx="2514600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6344" y="2093976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Surface Reflectance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(BRDF, material)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 flipV="1">
            <a:off x="2926080" y="2359152"/>
            <a:ext cx="1203808" cy="18288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11480" y="2898648"/>
            <a:ext cx="2514600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6344" y="2898648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Camera Geometry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(focal length, aperture)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926080" y="3182112"/>
            <a:ext cx="1203808" cy="18288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265615" y="2898648"/>
            <a:ext cx="2514600" cy="566928"/>
          </a:xfrm>
          <a:prstGeom prst="roundRect">
            <a:avLst>
              <a:gd name="adj" fmla="val 14516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320479" y="2898648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Sensor Noise &amp;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Lens Distortion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 flipV="1">
            <a:off x="8061808" y="3182112"/>
            <a:ext cx="1203808" cy="18288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265615" y="3776472"/>
            <a:ext cx="2514600" cy="566928"/>
          </a:xfrm>
          <a:prstGeom prst="roundRect">
            <a:avLst>
              <a:gd name="adj" fmla="val 14516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320479" y="3776472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Resolution Trade-off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(spatial vs. speed)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061808" y="4041648"/>
            <a:ext cx="1203808" cy="18288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265615" y="5422392"/>
            <a:ext cx="2514600" cy="566928"/>
          </a:xfrm>
          <a:prstGeom prst="roundRect">
            <a:avLst>
              <a:gd name="adj" fmla="val 14516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320479" y="5422392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Representation Formats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(raster, colour channels)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 flipV="1">
            <a:off x="8061808" y="5705856"/>
            <a:ext cx="1203808" cy="18288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Hierarchical Stages of Visual Data Handling in a CV System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449928" y="1188720"/>
            <a:ext cx="3291840" cy="502920"/>
          </a:xfrm>
          <a:prstGeom prst="roundRect">
            <a:avLst>
              <a:gd name="adj" fmla="val 16364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04792" y="118872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Computer Vision 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5848" y="1691640"/>
            <a:ext cx="914" cy="347472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386688" y="2039112"/>
            <a:ext cx="9418320" cy="914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386688" y="2039112"/>
            <a:ext cx="914" cy="292608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8864" y="2331720"/>
            <a:ext cx="1755648" cy="566928"/>
          </a:xfrm>
          <a:prstGeom prst="roundRect">
            <a:avLst>
              <a:gd name="adj" fmla="val 1451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3728" y="23317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Acquisition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386688" y="2898648"/>
            <a:ext cx="914" cy="5029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8864" y="3401568"/>
            <a:ext cx="1755648" cy="658368"/>
          </a:xfrm>
          <a:prstGeom prst="roundRect">
            <a:avLst>
              <a:gd name="adj" fmla="val 12500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3728" y="340156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14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Camera capture,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14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digitization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70352" y="2039112"/>
            <a:ext cx="914" cy="292608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392528" y="2331720"/>
            <a:ext cx="1755648" cy="566928"/>
          </a:xfrm>
          <a:prstGeom prst="roundRect">
            <a:avLst>
              <a:gd name="adj" fmla="val 1451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47392" y="23317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Pre-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processing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70352" y="2898648"/>
            <a:ext cx="914" cy="5029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392528" y="3401568"/>
            <a:ext cx="1755648" cy="658368"/>
          </a:xfrm>
          <a:prstGeom prst="roundRect">
            <a:avLst>
              <a:gd name="adj" fmla="val 12500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47392" y="340156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14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Noise removal,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14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enhancement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154016" y="2039112"/>
            <a:ext cx="914" cy="292608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276192" y="2331720"/>
            <a:ext cx="1755648" cy="566928"/>
          </a:xfrm>
          <a:prstGeom prst="roundRect">
            <a:avLst>
              <a:gd name="adj" fmla="val 1451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331056" y="23317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Segmentation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154016" y="2898648"/>
            <a:ext cx="914" cy="5029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276192" y="3401568"/>
            <a:ext cx="1755648" cy="658368"/>
          </a:xfrm>
          <a:prstGeom prst="roundRect">
            <a:avLst>
              <a:gd name="adj" fmla="val 12500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31056" y="340156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14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Region / object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14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separation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037680" y="2039112"/>
            <a:ext cx="914" cy="292608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159856" y="2331720"/>
            <a:ext cx="1755648" cy="566928"/>
          </a:xfrm>
          <a:prstGeom prst="roundRect">
            <a:avLst>
              <a:gd name="adj" fmla="val 1451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14720" y="23317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Extraction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037680" y="2898648"/>
            <a:ext cx="914" cy="5029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159856" y="3401568"/>
            <a:ext cx="1755648" cy="658368"/>
          </a:xfrm>
          <a:prstGeom prst="roundRect">
            <a:avLst>
              <a:gd name="adj" fmla="val 12500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14720" y="340156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14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Edges, corners,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14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descriptors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921344" y="2039112"/>
            <a:ext cx="914" cy="292608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043520" y="2331720"/>
            <a:ext cx="1755648" cy="566928"/>
          </a:xfrm>
          <a:prstGeom prst="roundRect">
            <a:avLst>
              <a:gd name="adj" fmla="val 1451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098384" y="23317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Recognition &amp;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Interpretation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921344" y="2898648"/>
            <a:ext cx="914" cy="5029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043520" y="3401568"/>
            <a:ext cx="1755648" cy="658368"/>
          </a:xfrm>
          <a:prstGeom prst="roundRect">
            <a:avLst>
              <a:gd name="adj" fmla="val 12500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098384" y="340156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14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Classification,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14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0805008" y="2039112"/>
            <a:ext cx="914" cy="292608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927184" y="2331720"/>
            <a:ext cx="1755648" cy="566928"/>
          </a:xfrm>
          <a:prstGeom prst="roundRect">
            <a:avLst>
              <a:gd name="adj" fmla="val 1451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982048" y="23317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 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Decision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0805008" y="2898648"/>
            <a:ext cx="914" cy="5029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927184" y="3401568"/>
            <a:ext cx="1755648" cy="658368"/>
          </a:xfrm>
          <a:prstGeom prst="roundRect">
            <a:avLst>
              <a:gd name="adj" fmla="val 12500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982048" y="340156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14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Action, visualization,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14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insight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2264512" y="2615184"/>
            <a:ext cx="128016" cy="914"/>
          </a:xfrm>
          <a:prstGeom prst="line">
            <a:avLst/>
          </a:prstGeom>
          <a:noFill/>
          <a:ln w="15875">
            <a:solidFill>
              <a:srgbClr val="1C7293"/>
            </a:solidFill>
            <a:prstDash val="dash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148176" y="2615184"/>
            <a:ext cx="128016" cy="914"/>
          </a:xfrm>
          <a:prstGeom prst="line">
            <a:avLst/>
          </a:prstGeom>
          <a:noFill/>
          <a:ln w="15875">
            <a:solidFill>
              <a:srgbClr val="1C7293"/>
            </a:solidFill>
            <a:prstDash val="dash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031840" y="2615184"/>
            <a:ext cx="128016" cy="914"/>
          </a:xfrm>
          <a:prstGeom prst="line">
            <a:avLst/>
          </a:prstGeom>
          <a:noFill/>
          <a:ln w="15875">
            <a:solidFill>
              <a:srgbClr val="1C7293"/>
            </a:solidFill>
            <a:prstDash val="dash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915504" y="2615184"/>
            <a:ext cx="128016" cy="914"/>
          </a:xfrm>
          <a:prstGeom prst="line">
            <a:avLst/>
          </a:prstGeom>
          <a:noFill/>
          <a:ln w="15875">
            <a:solidFill>
              <a:srgbClr val="1C7293"/>
            </a:solidFill>
            <a:prstDash val="dash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799168" y="2615184"/>
            <a:ext cx="128016" cy="914"/>
          </a:xfrm>
          <a:prstGeom prst="line">
            <a:avLst/>
          </a:prstGeom>
          <a:noFill/>
          <a:ln w="15875">
            <a:solidFill>
              <a:srgbClr val="1C7293"/>
            </a:solidFill>
            <a:prstDash val="dash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921344" y="4059936"/>
            <a:ext cx="914" cy="502920"/>
          </a:xfrm>
          <a:prstGeom prst="line">
            <a:avLst/>
          </a:prstGeom>
          <a:noFill/>
          <a:ln w="22225">
            <a:solidFill>
              <a:srgbClr val="5C7A8A"/>
            </a:solidFill>
            <a:prstDash val="dash"/>
            <a:tailEnd type="none"/>
          </a:ln>
        </p:spPr>
      </p:sp>
      <p:sp>
        <p:nvSpPr>
          <p:cNvPr id="51" name="Shape 49"/>
          <p:cNvSpPr/>
          <p:nvPr/>
        </p:nvSpPr>
        <p:spPr>
          <a:xfrm flipH="1">
            <a:off x="3270352" y="4562856"/>
            <a:ext cx="5650992" cy="914"/>
          </a:xfrm>
          <a:prstGeom prst="line">
            <a:avLst/>
          </a:prstGeom>
          <a:noFill/>
          <a:ln w="22225">
            <a:solidFill>
              <a:srgbClr val="5C7A8A"/>
            </a:solidFill>
            <a:prstDash val="dash"/>
            <a:tailEnd type="triangle"/>
          </a:ln>
        </p:spPr>
      </p:sp>
      <p:sp>
        <p:nvSpPr>
          <p:cNvPr id="52" name="Shape 50"/>
          <p:cNvSpPr/>
          <p:nvPr/>
        </p:nvSpPr>
        <p:spPr>
          <a:xfrm flipV="1">
            <a:off x="3270352" y="4059936"/>
            <a:ext cx="914" cy="502920"/>
          </a:xfrm>
          <a:prstGeom prst="line">
            <a:avLst/>
          </a:prstGeom>
          <a:noFill/>
          <a:ln w="22225">
            <a:solidFill>
              <a:srgbClr val="5C7A8A"/>
            </a:solidFill>
            <a:prstDash val="dash"/>
            <a:tailEnd type="none"/>
          </a:ln>
        </p:spPr>
      </p:sp>
      <p:sp>
        <p:nvSpPr>
          <p:cNvPr id="53" name="Text 51"/>
          <p:cNvSpPr/>
          <p:nvPr/>
        </p:nvSpPr>
        <p:spPr>
          <a:xfrm>
            <a:off x="508864" y="4654296"/>
            <a:ext cx="11173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i="1" dirty="0">
                <a:solidFill>
                  <a:srgbClr val="5C7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feedback loop: recognition results refine preprocessing (active / adaptive vision)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Image Resolution, Intensity Levels &amp; Image Quality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24248" y="3278124"/>
            <a:ext cx="2743200" cy="777240"/>
          </a:xfrm>
          <a:prstGeom prst="roundRect">
            <a:avLst>
              <a:gd name="adj" fmla="val 10588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79112" y="3278124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Image Quality &amp;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Usability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51760" cy="566928"/>
          </a:xfrm>
          <a:prstGeom prst="roundRect">
            <a:avLst>
              <a:gd name="adj" fmla="val 1451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" y="128016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Spatial Resolution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(sampling rate, N × M)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783080" y="1847088"/>
            <a:ext cx="914" cy="484632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2331720"/>
            <a:ext cx="2651760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064" y="233172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Pixel Density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(pixels per unit area)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83080" y="2898648"/>
            <a:ext cx="914" cy="48463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383280"/>
            <a:ext cx="2651760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" y="338328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Level of Detail 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Edge Sharpness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783080" y="3950208"/>
            <a:ext cx="914" cy="48463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4434840"/>
            <a:ext cx="2651760" cy="566928"/>
          </a:xfrm>
          <a:prstGeom prst="roundRect">
            <a:avLst>
              <a:gd name="adj" fmla="val 14516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443484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14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Low res. → Aliasing 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14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Blockiness (jagged edges)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108960" y="3666744"/>
            <a:ext cx="1615288" cy="914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82735" y="1280160"/>
            <a:ext cx="2651760" cy="566928"/>
          </a:xfrm>
          <a:prstGeom prst="roundRect">
            <a:avLst>
              <a:gd name="adj" fmla="val 1451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37599" y="128016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Intensity Resolution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(bits per pixel)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408615" y="1847088"/>
            <a:ext cx="914" cy="484632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82735" y="2331720"/>
            <a:ext cx="2651760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37599" y="233172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Number of Grey Levels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(2^k levels)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408615" y="2898648"/>
            <a:ext cx="914" cy="48463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82735" y="3383280"/>
            <a:ext cx="2651760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37599" y="338328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Dynamic Range &amp;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Contrast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0408615" y="3950208"/>
            <a:ext cx="914" cy="48463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82735" y="4434840"/>
            <a:ext cx="2651760" cy="566928"/>
          </a:xfrm>
          <a:prstGeom prst="roundRect">
            <a:avLst>
              <a:gd name="adj" fmla="val 14516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37599" y="443484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14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Low levels → False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14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Contouring / Banding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 flipH="1">
            <a:off x="7467448" y="3666744"/>
            <a:ext cx="1615288" cy="914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H="1">
            <a:off x="3489808" y="4055364"/>
            <a:ext cx="2606040" cy="1312164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346808" y="5367528"/>
            <a:ext cx="2286000" cy="548640"/>
          </a:xfrm>
          <a:prstGeom prst="roundRect">
            <a:avLst>
              <a:gd name="adj" fmla="val 150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401672" y="536752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Storage &amp;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Compression Needs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095848" y="4055364"/>
            <a:ext cx="0" cy="1312164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952848" y="5367528"/>
            <a:ext cx="2286000" cy="548640"/>
          </a:xfrm>
          <a:prstGeom prst="roundRect">
            <a:avLst>
              <a:gd name="adj" fmla="val 150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07712" y="536752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Suitability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095848" y="4055364"/>
            <a:ext cx="2606040" cy="1312164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558888" y="5367528"/>
            <a:ext cx="2286000" cy="548640"/>
          </a:xfrm>
          <a:prstGeom prst="roundRect">
            <a:avLst>
              <a:gd name="adj" fmla="val 150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613752" y="536752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Perceptual 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Diagnostic Usability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274</Words>
  <Application>Microsoft Office PowerPoint</Application>
  <PresentationFormat>Widescreen</PresentationFormat>
  <Paragraphs>85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Archana Kandula</cp:lastModifiedBy>
  <cp:revision>3</cp:revision>
  <dcterms:created xsi:type="dcterms:W3CDTF">2026-07-17T08:16:25Z</dcterms:created>
  <dcterms:modified xsi:type="dcterms:W3CDTF">2026-07-20T05:58:11Z</dcterms:modified>
</cp:coreProperties>
</file>